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大家好，今天我将为大家介绍我们的项目——西电官网数据RAG智能检索系统。这是一个专门为学生设计的官方资料问答系统，旨在解决大家在查找官网信息时遇到的各种不便。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汇报将围绕五个部分展开。首先，我们会介绍项目的背景与定位，阐述我们为什么要做这件事。接着，会展示系统已经实现的核心功能。然后，深入解析其技术架构与原理。之后，我们会提供详细的运行与演示步骤。最后，对项目的结构和未来的迭代方向进行说明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项目的初衷源于一个普遍的痛点：学生查找官网资料非常不顺手。主要体现在两个方面：一是信息分散，通知入口多、关键词不统一、原文太长，找起来费时费力；二是回答的可靠性难以保证，网上信息鱼龙混杂。因此，我们的核心目标就是打造一个可信、可扩展的问答入口，将官方页面整理成可检索、可引用的形式，确保信息的准确性和权威性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项目名为XDU_RAG，它的定位是一个官方公开页面的自然语言检索入口。简单来说，它能抓取官网信息，整理成知识库，当你提问时，它能快速找到相关内容并给出答案，同时附上来源链接。我们的系统有四大特点：来源可信，确保信息权威；本地可跑，方便演示和部署；答案带引用，方便追溯；以及拒绝编造，对于不确定的问题会明确告知，绝不误导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这是我们系统的主界面。大家可以看到，左侧是筛选栏，可以按类别和来源筛选。右侧是问答区，上方是输入框，下方会展示系统的回答和引用的来源。整个界面简洁明了，方便用户快速获取信息。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详细介绍一下我们系统已经实现的功能范围。系统目前已经完成了四大核心功能模块的开发：首先是智能语义检索，利用向量技术实现精准的内容召回；其次是多模态问答交互，支持多种输入形式并提供自然对话体验；第三是知识图谱关联，构建了完整的知识支撑体系；最后是检索溯源管理，保障了信息的真实性和可追溯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这一页展示了一个实际的问答场景。用户提出问题后，系统迅速给出了精准的回答，并列出了所有参考的来源链接，用户可以一目了然地看到信息的出处。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第一个核心功能是官方页面的采集与清洗。我们不是漫无目的的全网爬虫，而是通过白名单机制，只采集我们指定的官方网站。采集到的页面会被完整保存，然后我们的程序会自动抽取正文内容，并进行分类。这一步解决了“资料从哪里来、能不能复现”的问题，为后续的检索打下了坚实的基础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第二个核心功能是本地知识库与检索。我们采用向量检索为主，关键词匹配为辅的策略。系统会自动将长文档切成小片段，并使用本地的哈希向量技术进行处理，这意味着即使没有API Key，系统也能正常工作。当然，如果配置了外部API，检索效果会更好。目前的实现追求稳定可跑，未来还有很大的优化空间。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个核心功能是问答与引用。我们的原则是“只根据命中的资料回答”。当用户提问时，系统会先检索相关资料，然后基于这些资料生成答案。如果知识库为空，或者没有找到足够相关的信息，系统会明确拒绝回答，而不是凭空捏造。这保证了我们回答的严谨性和可靠性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个核心功能是前后端演示入口。我们提供了基于FastAPI的后端接口和基于Streamlit的前端页面。这使得演示和测试变得非常方便。你可以直接在网页上输入问题，或者通过API调用我们的服务。这不仅方便了课程展示，也便于其他开发者集成和扩展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了解了功能之后，我们来深入看一下系统的技术架构与原理，看看一个问题是如何从输入到最终生成带引用的回答的。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系统架构分为四层。数据采集层负责从官方网站抓取页面；知识处理层负责清洗和切片；索引检索层负责建立本地知识库并进行快速检索；问答服务层则负责生成最终的答案。整个架构的核心价值在于，我们始终把范围限定在已收录的官方资料内，确保了信息的来源可信，整个流程是可跑通的，并且演示是稳定的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接下来，我将介绍如何一步步地安装、运行和演示我们的系统。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运行我们的系统非常简单，只需要五个步骤。首先，准备Python虚拟环境。其次，安装项目依赖。第三，配置环境变量，这里即使没有API Key也可以运行。第四，执行命令构建本地知识库。最后，分别启动后端API和前端页面即可。整个过程清晰明了，方便快速上手。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我们来看一下项目的代码结构。我们的项目结构清晰，与源码保持一致，便于理解和维护。主要分为app、config、src、data和tests五个目录，分别负责前端、配置、核心逻辑、数据存储和单元测试。这样的架构设计理念，使得各个模块独立，方便团队分工协作和后续的功能扩展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下来我们对这个项目进行一个全面的总结，看看它的优点和不足之处。首先，我们的优点非常突出：第一，我们的数据来源可信，全部来自官方白名单，保证了信息的权威性。第二，整个技术链路是完全可复现的，这对于开发和调试非常友好。第三，我们实现了答案的引用和无依据问题的拒答，这能有效避免误导。最后，系统可以在本地运行，不需要昂贵的API Key，方便演示和部署。当然，项目也存在一些不足，比如资料覆盖还不够全面，特别是一些结构化的PDF文件还无法解析。同时，我们还没有建立一个量化的评测体系来衡量检索效果。这些都是我们下一步需要改进的方向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让大家更直观地感受我们系统的优势，我们来看一个具体的案例。当用户提问“请帮我免试研究生政策”时，系统并没有死板地去匹配关键词，而是通过语义理解，找到了标题为“推免生招生预报名通知”的相关政策。这就是语义检索的强大之处。不仅如此，系统还会直接提炼出核心要点，而不是让用户去读长篇大论。最关键的是，每一个回答都附上了来源链接，用户可以随时点击回去验证信息的准确性，确保了整个过程的可信、可靠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当然，我们也要正视项目的不足。这里有一个典型的例子，当用户询问“年度教学安排”时，我们的系统只能从零散的网页中抓取一些碎片化信息，无法给出一个完整、连贯的官方教学计划。这暴露了我们的核心问题：知识库中缺少像校历、培养方案这类结构化的资料。这种缺失直接影响了用户体验，对于一些复杂的查询，我们无法提供权威的指引。因此，我们下一步的优化方向非常明确，就是要重点补充这些结构化的教学资料，构建知识图谱，让系统能真正理解并回答这类问题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基于以上的分析，我们制定了清晰的改进路线图。我们的核心规划是对系统进行全链路的迭代升级。具体来说，我们将从四个层面着手：首先是数据层，我们要扩充知识库，特别是要解决PDF和附件的解析问题。其次是检索层，我们会引入更先进的语义模型来提升检索精度。第三是评测层，我们要建立一套量化的指标体系，用数据来指导优化。最后是工程层，我们会加强监控和维护，保障系统的稳定运行。通过这四个方面的努力，我们将推动系统从功能完善到性能跃升的跨越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为了确保我们的改进是有效的，我们建立了一套科学的评测指标体系。这套体系主要包含四个核心指标：Top-3命中率，用来衡量检索的准确性；引用准确率，确保我们的答案忠实于原文；无依据拒答准确率，体现系统的严谨性；以及平均响应时间，保障用户体验。除了这些核心指标，我们还会关注知识规模等基础指标。通过这套完整的量化体系，我们能够客观地评估系统性能，为算法调优和功能升级提供精准的决策依据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40000"/>
                </a:srgbClr>
              </a:gs>
              <a:gs pos="100000">
                <a:srgbClr val="000000">
                  <a:alpha val="7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西电官网数据 RAG 智能检索系统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面向学生的官方资料问答系统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D3E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63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1752600"/>
            <a:ext cx="23495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项目背景与定位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476500"/>
            <a:ext cx="29972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为什么做：官网信息分散，学生希望用一句话查到可信答案。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524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D3E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94200" y="1524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84700" y="1714500"/>
            <a:ext cx="63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83200" y="1752600"/>
            <a:ext cx="23495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已实现功能范围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84700" y="2476500"/>
            <a:ext cx="29972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白名单采集、分类检索、带引用回答、无依据拒答、前后端演示。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524000"/>
            <a:ext cx="3378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D3E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26400" y="1524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16900" y="1714500"/>
            <a:ext cx="63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15400" y="1752600"/>
            <a:ext cx="23495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技术架构与原理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16900" y="2476500"/>
            <a:ext cx="29972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从官网页面到本地知识，再到RAG问答接口的实际流程。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2730"/>
            <a:ext cx="3238500" cy="203327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D3E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3950970"/>
            <a:ext cx="3297555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4127500"/>
            <a:ext cx="762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841500" y="4165600"/>
            <a:ext cx="3937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运行与演示步骤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4869815"/>
            <a:ext cx="482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环境准备、采集、索引启动FastAPI和Streamlit。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23715" y="4048760"/>
            <a:ext cx="3448685" cy="211074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D3E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323715" y="3950335"/>
            <a:ext cx="3448685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394200" y="4062730"/>
            <a:ext cx="2781300" cy="6362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914900" y="4181475"/>
            <a:ext cx="3937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项目结构与迭代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323715" y="4966970"/>
            <a:ext cx="482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对应源码目录、数据文件、测试与后续可扩展方向。</a:t>
            </a:r>
            <a:endParaRPr lang="en-US" sz="1100"/>
          </a:p>
        </p:txBody>
      </p:sp>
      <p:sp>
        <p:nvSpPr>
          <p:cNvPr id="29" name="AutoShape 24"/>
          <p:cNvSpPr/>
          <p:nvPr/>
        </p:nvSpPr>
        <p:spPr>
          <a:xfrm>
            <a:off x="8026400" y="4037965"/>
            <a:ext cx="3377565" cy="20828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D3E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indent="0" algn="l">
              <a:lnSpc>
                <a:spcPct val="125000"/>
              </a:lnSpc>
              <a:defRPr/>
            </a:pPr>
            <a:endParaRPr sz="3600"/>
          </a:p>
        </p:txBody>
      </p:sp>
      <p:sp>
        <p:nvSpPr>
          <p:cNvPr id="30" name="AutoShape 25"/>
          <p:cNvSpPr/>
          <p:nvPr/>
        </p:nvSpPr>
        <p:spPr>
          <a:xfrm flipV="1">
            <a:off x="8026400" y="3950335"/>
            <a:ext cx="338201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文本框 31"/>
          <p:cNvSpPr txBox="1"/>
          <p:nvPr/>
        </p:nvSpPr>
        <p:spPr>
          <a:xfrm>
            <a:off x="8041640" y="4126230"/>
            <a:ext cx="3314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</a:t>
            </a:r>
            <a:endParaRPr lang="en-US" altLang="en-US" sz="36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20455" y="4278630"/>
            <a:ext cx="3256280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 b="1"/>
              <a:t>未</a:t>
            </a:r>
            <a:r>
              <a:rPr lang="zh-CN" altLang="en-US" sz="1800" b="1">
                <a:latin typeface="Arial Black" panose="020B0A04020102020204" charset="0"/>
              </a:rPr>
              <a:t>来的展望</a:t>
            </a:r>
            <a:endParaRPr lang="zh-CN" altLang="en-US" sz="1800" b="1">
              <a:latin typeface="Arial Black" panose="020B0A040201020202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100060" y="5395595"/>
            <a:ext cx="32658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Noto Sans SC" panose="020B0200000000000000" charset="-122"/>
                <a:ea typeface="Noto Sans SC" panose="020B0200000000000000" charset="-122"/>
              </a:rPr>
              <a:t>项目展望、改进方向、预期测评指标</a:t>
            </a:r>
            <a:endParaRPr lang="zh-CN" altLang="en-US" sz="1200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303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117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项目背景：学生查官网资料不够顺手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676400"/>
            <a:ext cx="482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问题一：信息分散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22500"/>
            <a:ext cx="1600200" cy="1841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14732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通知入口多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67000"/>
            <a:ext cx="14732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教务处、研究生院、学工部、综合信息网等通知站点名目各异，学生需在多个平台间来回切换查找信息。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03500" y="2222500"/>
            <a:ext cx="1600200" cy="1841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667000" y="2286000"/>
            <a:ext cx="14732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关键词不稳定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67000" y="2667000"/>
            <a:ext cx="14732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同一类问题存在推免、保研、推荐免试等多种表述，仅靠关键词搜索极易遗漏关键的官方通知页面。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254500" y="2222500"/>
            <a:ext cx="1600200" cy="1841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18000" y="2286000"/>
            <a:ext cx="14732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原文冗长零散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0" y="2667000"/>
            <a:ext cx="14732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政策通知篇幅长且格式不统一，核心信息分散在多个段落中，学生提取有效内容耗时费力。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5113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13500" y="1676400"/>
            <a:ext cx="482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问题二：回答可靠性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02400" y="2286000"/>
            <a:ext cx="1828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文件质量参差不齐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91300" y="2794000"/>
            <a:ext cx="2197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现有资料混入大量导航页、栏目页、列表页及重复文本，有效信息被冗余噪声淹没，增加筛选难度。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77300" y="2286000"/>
            <a:ext cx="2413000" cy="1841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105900" y="22860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回答必须可追溯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05900" y="2667000"/>
            <a:ext cx="2222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不追求全量覆盖，严格限制答案来源为西电官方公开资料，确保每一条回答都有权威出处可追溯。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5085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1F2937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4508500"/>
            <a:ext cx="76200" cy="1778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79500" y="4673600"/>
            <a:ext cx="9906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核心目标：把官方页面整理成可检索、可引用的问答入口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79500" y="5181600"/>
            <a:ext cx="609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首批聚焦政策解读、推免保研、校园生活、学科竞赛、教务办理、学工服务等高频需求场景；坚持“有依据才回答，无来源即拒答”的原则，为学生提供精准、权威的信息支持。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50892">
            <a:off x="6921500" y="5645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620000" y="5143500"/>
            <a:ext cx="3556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可信 · 可扩展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筑牢信息权威性底座，适配未来业务场景延伸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项目简介：XDU_RAG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10160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项目定位：官方公开页面的自然语言检索入口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系统采集西电公开官网页面，清洗后生成结构化文档和文本切片。学生提问时，后端先检索相关片段，再用抽取式回答或可选模型生成答案，并展示引用来源，让信息获取更精准、可追溯。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33020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可信来源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810000"/>
            <a:ext cx="2349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数据源严格限定于西电主页、综合信息网、信息公开网、教务处、研究生院、学工部及校内通知平台等官方白名单站点，确保信息权威可靠。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30600" y="3175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306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57600" y="33020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本地可跑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3810000"/>
            <a:ext cx="2349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默认采用本地JSON向量索引与哈希Embedding技术，无需配置外部API Key，即可独立完成数据采集、索引构建、语义检索与拒答流程的完整演示。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99200" y="3175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992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26200" y="33020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答案带引用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26200" y="3810000"/>
            <a:ext cx="2349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回答结果附带标题、来源链接、站点分类、发布时间及片段相似度，用户可直接回溯官网原文，实现信息来源的透明化与可验证性。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67800" y="3175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0678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194800" y="33020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拒绝编造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94800" y="3810000"/>
            <a:ext cx="2349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建立严格的信息匹配机制，当知识库无相关内容或信息分散度不足时，系统直接返回“未找到依据”，杜绝模型幻觉与虚假结论。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2705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22D3E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397500"/>
            <a:ext cx="10160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作为面向校园场景的RAG原型项目，核心目标是打通从数据采集、索引构建到检索问答的全链路，验证基于官方文档的智能检索可行性，为后续智慧校园信息服务优化提供技术参考。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" y="635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系统主界面概览：简洁高效的智能交互体验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771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E40AF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09600" y="2286000"/>
            <a:ext cx="5334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63600" y="254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左侧：多维资源筛选引擎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863608" y="3168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4ED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63600" y="34290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分层级的筛选体系，支持按文档类别（课程资料、学术论文、政策文件）与数据来源（校内知识库、权威期刊库、网络公开资源）进行精准过滤。用户可通过组合筛选条件，快速缩小检索范围，确保获取的信息具备高度相关性与权威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48400" y="2286000"/>
            <a:ext cx="5334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502400" y="254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右侧：沉浸式问答交互空间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046">
            <a:off x="6502408" y="3168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4ED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502400" y="34290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采用经典的上下布局，上方为自然语言输入框，支持长文本与多轮对话；下方为智能回答展示区，不仅呈现精准的答案内容，更同步列出信息引用的原始来源文献与章节位置，实现“答案可追溯、来源可验证”，提升信息可信度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" y="5651500"/>
            <a:ext cx="10972800" cy="889000"/>
          </a:xfrm>
          <a:prstGeom prst="roundRect">
            <a:avLst>
              <a:gd name="adj" fmla="val 0"/>
            </a:avLst>
          </a:prstGeom>
          <a:solidFill>
            <a:srgbClr val="1E40A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63600" y="5778500"/>
            <a:ext cx="10464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界面设计遵循“极简高效”原则，以清晰的左右分区降低用户认知负荷，让用户聚焦于信息获取本身，实现从“信息检索”到“知识获取”的无缝衔接，为学习与研究提供强有力的工具支撑。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已实现功能范围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0" y="3429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71500" y="419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98500" y="43815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智能语义检索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8582">
            <a:off x="698517" y="4883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98500" y="5080000"/>
            <a:ext cx="2349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基于向量检索技术，突破传统关键词匹配限制，精准理解用户检索意图，实现多维度的文档内容智能召回。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29000" y="419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56000" y="43815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多模态问答交互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8582">
            <a:off x="3556017" y="4883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3556000" y="5080000"/>
            <a:ext cx="2349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支持文本、文档片段等多形式输入，结合大语言模型生成流畅自然的回答，提供对话式的智能交互体验。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6500" y="419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43815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知识图谱关联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8582">
            <a:off x="6413517" y="4883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13500" y="5080000"/>
            <a:ext cx="2349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构建领域知识实体关系网络，自动关联相关知识点与文献依据，为回答提供可追溯的知识支撑体系。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017000" y="4191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144000" y="43815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检索溯源管理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8582">
            <a:off x="9144017" y="4883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B72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144000" y="5080000"/>
            <a:ext cx="2349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记录检索全链路日志，展示回答引用的原始文档片段与来源，确保信息的真实性与可验证性。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663700" y="4318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系统问答场景演示：精准响应与来源溯源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2032000"/>
            <a:ext cx="2794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2159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55E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实时精准问答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用户输入自然语言问题后，系统依托RAG检索增强技术，快速匹配知识库内容，即时生成逻辑清晰、答案精准的回复，实现人机交互的流畅性。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4191000"/>
            <a:ext cx="2794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4318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55E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全链路来源溯源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系统在输出答案的同时，自动关联并展示信息引用的原始文档链接与段落出处，让回答有据可依，保障信息的可信度与可验证性。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683000" y="1651000"/>
            <a:ext cx="8001000" cy="825500"/>
          </a:xfrm>
          <a:prstGeom prst="roundRect">
            <a:avLst>
              <a:gd name="adj" fmla="val 0"/>
            </a:avLst>
          </a:prstGeom>
          <a:solidFill>
            <a:srgbClr val="155E7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t="17525" b="17525"/>
          <a:stretch>
            <a:fillRect/>
          </a:stretch>
        </p:blipFill>
        <p:spPr>
          <a:xfrm>
            <a:off x="3683000" y="2667000"/>
            <a:ext cx="8001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3683000" y="5588000"/>
            <a:ext cx="800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810000" y="5651500"/>
            <a:ext cx="774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演示场景中，用户提出专业问题后，系统不仅给出了结构化的解答方案，还将底层检索到的文献、资料链接进行可视化陈列，用户可一键跳转查阅原文，构建了“提问-解答-溯源”的完整知识服务闭环。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 1: 官方页面采集与清洗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473200"/>
            <a:ext cx="990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不是全网爬虫，而是白名单采集机制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05000"/>
            <a:ext cx="10033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config/sources.json 配置文件维护允许的域名列表、种子URL及分类关键词，限定爬虫仅采集学校公开可访问的官方页面，并完整留存原始HTML快照，确保数据来源可靠。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79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298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333500" y="2971800"/>
            <a:ext cx="190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官方来源覆盖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14400" y="3492500"/>
            <a:ext cx="2349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全面覆盖学校主页、综合信息网、信息公开网，以及教务处、研究生院、学工部等核心职能部门站点。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14400" y="4318000"/>
            <a:ext cx="2298700" cy="508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90600" y="4343400"/>
            <a:ext cx="2133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0F76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`xidian-rag crawl --max-pages 120`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54400" y="279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454400" y="279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06800" y="298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4025900" y="2971800"/>
            <a:ext cx="190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原始原文留存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606800" y="3492500"/>
            <a:ext cx="2349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将成功访问的页面完整写入指定目录，保留原始HTML结构，为后续的数据分析、内容复现和离线导入提供基础。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06800" y="4318000"/>
            <a:ext cx="2298700" cy="508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683000" y="4343400"/>
            <a:ext cx="2133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0F76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`data/knowledge_base/pages/`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34100" y="279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134100" y="279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86500" y="298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6705600" y="2971800"/>
            <a:ext cx="190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智能正文抽取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86500" y="3492500"/>
            <a:ext cx="2349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自动从HTML中提取标题、正文、发布时间、原文链接等核心字段，过滤广告、导航等无效和重复内容。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86500" y="4318000"/>
            <a:ext cx="2298700" cy="508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362700" y="4343400"/>
            <a:ext cx="2133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0F76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`data/documents.jsonl`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26500" y="279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826500" y="279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78900" y="298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2" name="AutoShape 32"/>
          <p:cNvSpPr/>
          <p:nvPr/>
        </p:nvSpPr>
        <p:spPr>
          <a:xfrm>
            <a:off x="9398000" y="2971800"/>
            <a:ext cx="190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业务分类辅助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978900" y="3492500"/>
            <a:ext cx="2349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基于关键词匹配将资料自动归类到政策、保研、生活、竞赛等类别，为后续的精准检索和筛选提供支撑。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978900" y="4318000"/>
            <a:ext cx="2298700" cy="508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055100" y="4343400"/>
            <a:ext cx="2133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0F76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`config/sources.json`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62000" y="5143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762000" y="5143500"/>
            <a:ext cx="50800" cy="1206500"/>
          </a:xfrm>
          <a:prstGeom prst="roundRect">
            <a:avLst>
              <a:gd name="adj" fmla="val 0"/>
            </a:avLst>
          </a:prstGeom>
          <a:solidFill>
            <a:srgbClr val="22D3E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952500" y="5270500"/>
            <a:ext cx="10223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这一环节通过规范化的采集流程与结构化的清洗处理，解决了“资料从哪里来、能不能复现”的核心问题，沉淀了高质量、可追溯的官方知识库，为后续的智能检索与问答提供了坚实的数据基石。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 2: 本地知识库与检索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24000"/>
            <a:ext cx="1016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向量检索为主，关键词匹配辅助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06600"/>
            <a:ext cx="1016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文档会被智能切分为适合检索的语义化chunk片段，再写入本地索引库。系统默认架构不依赖外部数据库服务，保证了部署的轻量化；若有大规模数据管理需求，可无缝切换至Chroma向量数据库。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3238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1397000" y="3213100"/>
            <a:ext cx="2667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智能文本切片处理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746500"/>
            <a:ext cx="3048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将长篇通知、文档自动拆解为短语义片段，完整保留标题、来源、分类标签与发布时间等元数据信息。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572000"/>
            <a:ext cx="3048000" cy="698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4635500"/>
            <a:ext cx="2794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存储格式：data/chunks.jsonl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81500" y="3048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381500" y="304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3238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5016500" y="3213100"/>
            <a:ext cx="2667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本地轻量级 Embedding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3746500"/>
            <a:ext cx="3048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在无外部API Key的环境下，使用确定性的哈希向量算法，确保课堂演示、单元测试场景可离线运行。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72000" y="4572000"/>
            <a:ext cx="3048000" cy="698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699000" y="4635500"/>
            <a:ext cx="2794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核心组件：HashEmbeddingProvider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01000" y="3048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001000" y="304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91500" y="3238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8636000" y="3213100"/>
            <a:ext cx="2667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高性能外部 API 扩展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191500" y="3746500"/>
            <a:ext cx="3048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灵活配置 OpenAI-compatible 标准接口，接入专业 Embedding 模型，显著提升长文本的语义检索精度。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91500" y="4572000"/>
            <a:ext cx="3048000" cy="698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318500" y="4635500"/>
            <a:ext cx="2794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开关配置：USE_API_EMBEDDINGS=true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588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52500" y="5715000"/>
            <a:ext cx="279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1397000" y="5715000"/>
            <a:ext cx="9779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当前系统实现优先保证功能稳定、部署便捷与运行可靠；后续可通过优化 Embedding 模型选型、引入检索重排机制和增量索引策略，持续挖掘检索性能的提升空间。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 3: 问答与引用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651000"/>
            <a:ext cx="9906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只根据命中资料回答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222500"/>
            <a:ext cx="1003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RAG服务先检索Top-K片段，过滤低分命中，再生成答案和引用。严格遵循资料依据，当缺少可靠资料支撑时，系统会直接拒答，确保回答的真实性与严谨性。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4699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场景一：查询政策/教务信息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191000"/>
            <a:ext cx="4699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学生针对校内事务提问后，系统可按“保研、教务、竞赛”等预设分类缩小检索范围，精准定位官方资料中的相关内容，提升检索效率与准确性。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080000"/>
            <a:ext cx="4699000" cy="698500"/>
          </a:xfrm>
          <a:prstGeom prst="roundRect">
            <a:avLst>
              <a:gd name="adj" fmla="val 0"/>
            </a:avLst>
          </a:prstGeom>
          <a:solidFill>
            <a:srgbClr val="22D3E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5143500"/>
            <a:ext cx="444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4C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典型提问：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“学校的保研政策有哪些具体要求？需要满足什么绩点和竞赛条件？”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3429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3429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3619500"/>
            <a:ext cx="4699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场景二：空库或低相关命中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191000"/>
            <a:ext cx="4699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当知识库尚未构建完成，或检索结果的相似度低于设定阈值时，系统坚守“不编造、不臆断”原则，不会生成无依据的答案，保障信息的可靠性。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080000"/>
            <a:ext cx="4699000" cy="698500"/>
          </a:xfrm>
          <a:prstGeom prst="roundRect">
            <a:avLst>
              <a:gd name="adj" fmla="val 0"/>
            </a:avLst>
          </a:prstGeom>
          <a:solidFill>
            <a:srgbClr val="22D3E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04000" y="5143500"/>
            <a:ext cx="444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4C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系统反馈示例：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“未在已收录的官方资料中找到相关依据，建议先更新知识库内容，或尝试更换提问方式重新查询。”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 4: 前后端演示入口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498600"/>
            <a:ext cx="101600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系统集成了 FastAPI 高性能后端接口与 Streamlit 轻量级前端页面，构建完整的可交互演示环境。用户可直接在前端界面输入问题、筛选分类、配置返回引用数量，实时获取答案与权威来源依据，实现从接口调用到可视化展示的全流程闭环。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492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0800" cy="2413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29464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422400" y="2921000"/>
            <a:ext cx="2667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基础架构与服务自检体系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492500"/>
            <a:ext cx="3111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提供完备的服务状态监控接口，确保后端服务稳定运行，为演示和开发提供可靠的底层支撑，同时支持快速校验知识库构建情况。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445000"/>
            <a:ext cx="3111500" cy="698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4508500"/>
            <a:ext cx="2857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`GET /health`、`/sources`、`/stats` 接口组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：实时检查服务存活状态、数据源完整性及向量索引规模，保障系统就绪。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19600" y="2794000"/>
            <a:ext cx="3492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19600" y="2794000"/>
            <a:ext cx="50800" cy="2413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10100" y="29464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5080000" y="2921000"/>
            <a:ext cx="2667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核心问答接口交互规范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10100" y="3492500"/>
            <a:ext cx="3111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标准化的问答数据交互接口，支持灵活的参数配置，能够精准返回答案、引用来源及证据匹配状态，适配多样化的调用需求。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10100" y="4445000"/>
            <a:ext cx="3111500" cy="698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37100" y="4508500"/>
            <a:ext cx="2857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`POST /ask` 核心交互接口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：接收问题、分类、TopK等参数，返回结构化答案、引用文献及推理模式标识。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64500" y="2794000"/>
            <a:ext cx="3492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64500" y="2794000"/>
            <a:ext cx="50800" cy="2413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55000" y="29464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8724900" y="2921000"/>
            <a:ext cx="2667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Streamlit 可视化演示前端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55000" y="3492500"/>
            <a:ext cx="3111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开箱即用的Web交互界面，无需复杂配置即可体验完整功能，支持开发者快速验证算法效果，也便于向用户直观展示系统能力。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5000" y="4445000"/>
            <a:ext cx="3111500" cy="6985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382000" y="4508500"/>
            <a:ext cx="2857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侧边栏参数配置 + 正文结果展示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：集成分类筛选、TopK设置与白名单管理，清晰呈现答案及权威引用来源。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461000"/>
            <a:ext cx="1079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16000" y="5537200"/>
            <a:ext cx="1028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应用场景：适用于课程教学展示，直观演示RAG系统的检索与生成逻辑；支持开发阶段的功能自测，快速验证接口调用与数据返回；同时可作为轻量化的演示工具，让同学或用户零门槛体验系统的问答能力与引用溯源机制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技术架构与原理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746500"/>
            <a:ext cx="1219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从公开官网页面到带引用回答的实际处理链路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系统技术架构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67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7145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286000"/>
            <a:ext cx="241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白名单网页采集与原文保存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984500"/>
            <a:ext cx="241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读取 sources.json 中的允许域名和种子URL，抓取公开页面；无法访问的页面记录到失败日志，严格遵守权限不进行绕过。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81400" y="1524000"/>
            <a:ext cx="2667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814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708400" y="17145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知识处理层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708400" y="2286000"/>
            <a:ext cx="241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正文抽取、去重、分类和切片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08400" y="2984500"/>
            <a:ext cx="241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从HTML解析生成结构化的documents.jsonl，按文本长度切分为chunks.jsonl；利用预设关键词规则辅助完成内容的自动分类归档。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00800" y="1524000"/>
            <a:ext cx="2667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008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27800" y="17145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索引检索层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2286000"/>
            <a:ext cx="241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本地索引为默认方案，Chroma可选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27800" y="2984500"/>
            <a:ext cx="241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默认将文本块与向量数据持久化到db/index/目录；用户问题输入后先计算语义相似度，再结合少量关键词匹配优化检索结果。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07500" y="1524000"/>
            <a:ext cx="2667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2075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334500" y="17145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问答服务层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334500" y="2286000"/>
            <a:ext cx="241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抽取式回答 / 可选模型生成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334500" y="2984500"/>
            <a:ext cx="241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检索到可靠证据时直接抽取答案并附带引用来源；无匹配依据则明确拒答。配置USE_API_CHAT=true可无缝对接OpenAI兼容的Chat接口增强生成能力。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254500"/>
            <a:ext cx="11112500" cy="2095500"/>
          </a:xfrm>
          <a:prstGeom prst="roundRect">
            <a:avLst>
              <a:gd name="adj" fmla="val 0"/>
            </a:avLst>
          </a:prstGeom>
          <a:solidFill>
            <a:srgbClr val="F0F9FF">
              <a:alpha val="9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4254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79500" y="4381500"/>
            <a:ext cx="10287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核心价值：先保证“来源可信、流程跑通、演示稳定”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79500" y="4953000"/>
            <a:ext cx="102870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架构摒弃通用AI的盲目泛化，将知识范围严格限定在已收录的官方可信资料内。遵循“先检索证据，后生成回答”的原则，确保每一个结论都有迹可循；若检索无有效证据，则明确告知用户，绝不虚构内容，从而保障系统流程的可验证性与演示的稳定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2667000"/>
            <a:ext cx="1143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运行与演示步骤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810000"/>
            <a:ext cx="1016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如何安装、采集、索引并启动前后端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635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安装与运行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05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625600"/>
            <a:ext cx="3048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1 · 准备环境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095500"/>
            <a:ext cx="3175000" cy="889000"/>
          </a:xfrm>
          <a:prstGeom prst="roundRect">
            <a:avLst>
              <a:gd name="adj" fmla="val 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41400" y="2133600"/>
            <a:ext cx="3048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Menlo"/>
                <a:ea typeface="Menlo"/>
                <a:cs typeface="Menlo"/>
                <a:sym typeface="Menlo"/>
              </a:rPr>
              <a:t>python -m venv venv</a:t>
            </a:r>
            <a:br>
              <a:rPr lang="en-US" sz="1200" b="0" i="0" u="none" strike="noStrike">
                <a:solidFill>
                  <a:srgbClr val="10B981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10B981"/>
                </a:solidFill>
                <a:latin typeface="Menlo"/>
                <a:ea typeface="Menlo"/>
                <a:cs typeface="Menlo"/>
                <a:sym typeface="Menlo"/>
              </a:rPr>
              <a:t>venv\Scripts\Activate.ps1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048000"/>
            <a:ext cx="3175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建议使用Python 3.10+版本，进入项目根目录后执行命令，创建并激活独立的Python虚拟环境。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3505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1524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35500" y="1625600"/>
            <a:ext cx="3048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2 · 安装依赖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095500"/>
            <a:ext cx="3175000" cy="889000"/>
          </a:xfrm>
          <a:prstGeom prst="roundRect">
            <a:avLst>
              <a:gd name="adj" fmla="val 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724400" y="2133600"/>
            <a:ext cx="3048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59E0B"/>
                </a:solidFill>
                <a:latin typeface="Menlo"/>
                <a:ea typeface="Menlo"/>
                <a:cs typeface="Menlo"/>
                <a:sym typeface="Menlo"/>
              </a:rPr>
              <a:t>pip install -r requirements.txt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3048000"/>
            <a:ext cx="3175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安装项目基础依赖包；若需要使用命令行工具入口，额外执行 pip install -e . 进行可编辑安装。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524000"/>
            <a:ext cx="3505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28000" y="1524000"/>
            <a:ext cx="50800" cy="2349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18500" y="1625600"/>
            <a:ext cx="3048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3 · 配置 .env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8500" y="2095500"/>
            <a:ext cx="3175000" cy="889000"/>
          </a:xfrm>
          <a:prstGeom prst="roundRect">
            <a:avLst>
              <a:gd name="adj" fmla="val 0"/>
            </a:avLst>
          </a:prstGeom>
          <a:solidFill>
            <a:srgbClr val="ECF2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407400" y="2133600"/>
            <a:ext cx="3048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E40AF"/>
                </a:solidFill>
                <a:latin typeface="Menlo"/>
                <a:ea typeface="Menlo"/>
                <a:cs typeface="Menlo"/>
                <a:sym typeface="Menlo"/>
              </a:rPr>
              <a:t>Copy-Item .env.example .env</a:t>
            </a:r>
            <a:br>
              <a:rPr lang="en-US" sz="1300" b="0" i="0" u="none" strike="noStrike">
                <a:solidFill>
                  <a:srgbClr val="1E40AF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300" b="0" i="0" u="none" strike="noStrike">
                <a:solidFill>
                  <a:srgbClr val="1E40AF"/>
                </a:solidFill>
                <a:latin typeface="Menlo"/>
                <a:ea typeface="Menlo"/>
                <a:cs typeface="Menlo"/>
                <a:sym typeface="Menlo"/>
              </a:rPr>
              <a:t>OPENAI_API_KEY=your_key_here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18500" y="3048000"/>
            <a:ext cx="3175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复制示例环境文件并按需填写API密钥；若不配置，也可使用本地哈希向量和抽取式回答进行基础演示。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127500"/>
            <a:ext cx="50800" cy="2222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4229100"/>
            <a:ext cx="4826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4 · 构建知识库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" y="4699000"/>
            <a:ext cx="4889500" cy="698500"/>
          </a:xfrm>
          <a:prstGeom prst="roundRect">
            <a:avLst>
              <a:gd name="adj" fmla="val 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41400" y="4737100"/>
            <a:ext cx="4762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C4899"/>
                </a:solidFill>
                <a:latin typeface="Menlo"/>
                <a:ea typeface="Menlo"/>
                <a:cs typeface="Menlo"/>
                <a:sym typeface="Menlo"/>
              </a:rPr>
              <a:t>xidian-rag crawl --max-pages 120 &amp;&amp; xidian-rag index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52500" y="5461000"/>
            <a:ext cx="4889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执行命令自动采集网页数据并构建索引；也可使用 ingest-pages 命令导入本地已有的 HTML 文件作为知识库源。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23000" y="4127500"/>
            <a:ext cx="50800" cy="2222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13500" y="4229100"/>
            <a:ext cx="4826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5 · 启动演示系统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13500" y="4699000"/>
            <a:ext cx="4889500" cy="698500"/>
          </a:xfrm>
          <a:prstGeom prst="roundRect">
            <a:avLst>
              <a:gd name="adj" fmla="val 0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502400" y="4737100"/>
            <a:ext cx="4762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891B2"/>
                </a:solidFill>
                <a:latin typeface="Menlo"/>
                <a:ea typeface="Menlo"/>
                <a:cs typeface="Menlo"/>
                <a:sym typeface="Menlo"/>
              </a:rPr>
              <a:t>Backend: uvicorn xidian_rag.api:app --reload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13500" y="5461000"/>
            <a:ext cx="4889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先启动FastAPI后端服务，再运行 streamlit run app/streamlit_app.py 打开前端交互页面，访问本地地址即可体验。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8890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项目结构解析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333500"/>
            <a:ext cx="10287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结构与源码保持一致，便于验收和维护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461000" cy="2349500"/>
          </a:xfrm>
          <a:prstGeom prst="roundRect">
            <a:avLst>
              <a:gd name="adj" fmla="val 0"/>
            </a:avLst>
          </a:prstGeom>
          <a:solidFill>
            <a:srgbClr val="1F2937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5080000" cy="209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XDU_RAG/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app/ 前端交互与展示层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config/ 配置与策略管理层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src/xidian_rag/ 核心业务逻辑层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data/ 数据持久化存储层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└─ tests/ 自动化测试保障层</a:t>
            </a:r>
            <a:endParaRPr lang="en-US" sz="13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477000" y="2159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667500" y="2286000"/>
            <a:ext cx="482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架构设计理念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67500" y="2794000"/>
            <a:ext cx="4826000" cy="146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“高内聚、低耦合”原则，按课程项目可交付标准拆分模块。将数据源配置、采集清洗、知识库构建、检索问答、API服务与前端交互层完全解耦，实现各环节独立开发、独立测试、独立演示，大幅降低协作成本并提升系统可维护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2082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63600" y="4851400"/>
            <a:ext cx="1879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app/ 前端交互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3600" y="5308600"/>
            <a:ext cx="1879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Streamlit 构建的可视化页面，负责用户问题输入、分类选择，以及最终回答结果与文献引用的展示。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971800" y="4699000"/>
            <a:ext cx="2082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2971800" y="4699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073400" y="4851400"/>
            <a:ext cx="1879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config/ 配置中心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073400" y="5308600"/>
            <a:ext cx="1879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集中管理官方站点白名单、初始种子 URL 列表以及业务相关的分类关键词，实现配置与代码分离。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181600" y="4699000"/>
            <a:ext cx="2082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181600" y="4699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283200" y="4851400"/>
            <a:ext cx="1879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 核心业务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283200" y="5308600"/>
            <a:ext cx="1879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封装爬虫、文档切片、Embedding 向量化、向量存储、RAG 检索服务及 API/CLI 接口的核心实现。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91400" y="4699000"/>
            <a:ext cx="2082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391400" y="4699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493000" y="4851400"/>
            <a:ext cx="1879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data/ 数据存储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493000" y="5308600"/>
            <a:ext cx="1879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存储原始 HTML、结构化文档、切片数据、本地向量索引文件以及抓取失败的日志记录，便于追溯。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601200" y="4699000"/>
            <a:ext cx="2082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601200" y="4699000"/>
            <a:ext cx="2082800" cy="381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702800" y="4851400"/>
            <a:ext cx="18796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tests/ 测试验证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702800" y="5308600"/>
            <a:ext cx="1879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编写单元测试覆盖文档分类、切片处理、原文保存、空库拒答及本地检索命中逻辑，保障系统稳定性。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项目的展望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ECFDF5">
              <a:alpha val="95000"/>
            </a:srgbClr>
          </a:solidFill>
          <a:ln w="12700" cap="flat" cmpd="sng">
            <a:solidFill>
              <a:srgbClr val="10B98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4699000" cy="330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可信来源：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数据来源来自官方白名单，保证信息权威性。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全链路可复现：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从采集到问答的全流程均可在本地复现，便于调试和验证。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引用与拒答：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答案附带来源链接，便于追溯；对无依据问题明确拒答，避免误导。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本地可运行：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默认使用本地哈希向量，无需API Key即可完成核心功能演示。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EF2F2">
              <a:alpha val="95000"/>
            </a:srgbClr>
          </a:solidFill>
          <a:ln w="12700" cap="flat" cmpd="sng">
            <a:solidFill>
              <a:srgbClr val="EF444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2159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不足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921000"/>
            <a:ext cx="4699000" cy="330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资料覆盖不足：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知识库缺少完整的教学计划、校历、专业培养方案等关键信息。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检索效果未量化：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缺少命中率、准确率等指标来衡量系统性能。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哈希embedding语义能力有限：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当前哈希向量方法在处理复杂语义时效果一般。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附件/PDF未充分解析：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无法处理网页中的PDF附件和Office文档，导致信息遗漏。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1117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53A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优势案例：语义检索 + 引用回答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06500"/>
            <a:ext cx="11176000" cy="25400"/>
          </a:xfrm>
          <a:prstGeom prst="roundRect">
            <a:avLst>
              <a:gd name="adj" fmla="val 0"/>
            </a:avLst>
          </a:prstGeom>
          <a:solidFill>
            <a:srgbClr val="153A75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3424" r="13424"/>
          <a:stretch>
            <a:fillRect/>
          </a:stretch>
        </p:blipFill>
        <p:spPr>
          <a:xfrm>
            <a:off x="1308100" y="1231900"/>
            <a:ext cx="3390900" cy="2476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08000" y="5588000"/>
            <a:ext cx="520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案例直观呈现系统核心能力：面对用户“免试研究生政策”的提问，系统突破关键词限制，通过语义理解精准匹配官网“推免生招生预报名通知”文件；直接提炼核心要点作答，避免用户翻阅冗余信息；同时展示来源链接与相似度，实现“问答-核验”的可信闭环，让信息获取更智能、高效且安全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96000" y="1778000"/>
            <a:ext cx="12700" cy="4064000"/>
          </a:xfrm>
          <a:prstGeom prst="roundRect">
            <a:avLst>
              <a:gd name="adj" fmla="val 0"/>
            </a:avLst>
          </a:prstGeom>
          <a:solidFill>
            <a:srgbClr val="153A7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" y="4076700"/>
            <a:ext cx="5080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3A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语义匹配：突破关键词限制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用户问题「请帮我免试研究生政策」与官网标题「推免生招生预报名通知」不完全一致，系统通过语义理解成功匹配到相关政策，解决检索盲区，让用户不再因关键词表述差异错失关键信息。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3810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153A75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0" y="4064000"/>
            <a:ext cx="5080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3A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精准回答：提升获取效率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系统摒弃简单罗列原文的方式，直接给出核心结论和要点说明，让用户无需翻阅冗长的政策文档，快速掌握关键信息，大幅提升信息获取的效率与体验。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5207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153A75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5270500"/>
            <a:ext cx="5080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3A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来源可溯：确保信息可信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回答中清晰展示原始页面标题、官方链接和内容相似度，方便用户随时回到官网核验信息，建立完整的“问答-来源”闭环，从源头保障信息的准确性与权威性。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l="5753" r="5753"/>
          <a:stretch>
            <a:fillRect/>
          </a:stretch>
        </p:blipFill>
        <p:spPr>
          <a:xfrm>
            <a:off x="6972300" y="1206500"/>
            <a:ext cx="4102100" cy="2476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" y="508000"/>
            <a:ext cx="109728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不足案例：资料覆盖缺失导致回答完整性受限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25400"/>
          </a:xfrm>
          <a:prstGeom prst="roundRect">
            <a:avLst>
              <a:gd name="adj" fmla="val 0"/>
            </a:avLst>
          </a:prstGeom>
          <a:solidFill>
            <a:srgbClr val="1E3A8A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8333" r="8333"/>
          <a:stretch>
            <a:fillRect/>
          </a:stretch>
        </p:blipFill>
        <p:spPr>
          <a:xfrm>
            <a:off x="609600" y="1778000"/>
            <a:ext cx="5334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09600" y="5334000"/>
            <a:ext cx="533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图示为用户询问“年度教学安排”时的系统实际回复界面。可以看到系统仅能提取碎片化信息进行拼接，无法输出连贯、完整的官方教学规划内容，难以满足用户对整体教学安排的查询需求。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778000"/>
            <a:ext cx="12700" cy="43180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7780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31000" y="1905000"/>
            <a:ext cx="457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核心问题：知识库结构性资料断层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系统虽能基于零散网页信息做基础回答，但因缺失官方发布的完整校历、学期课程总表、专业培养方案等核心结构化资料，导致信息维度不全，无法形成体系化的知识支撑。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604000" y="34290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731000" y="3556000"/>
            <a:ext cx="457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影响：用户需求响应存在明显盲区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对于涉及时间规划、课程衔接、培养要求的复杂查询，系统无法提供权威、完整的指引，不仅降低了回答的参考价值，也让用户难以获得清晰的决策依据，严重影响使用体验。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604000" y="5207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1E3A8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31000" y="5334000"/>
            <a:ext cx="457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优化方向：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下一步需重点补充官方结构化教学资料，建立标准化的知识图谱关联，将校历、课程、培养方案等信息有机串联，确保系统能覆盖完整的教学场景信息。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6.2 改进方向与路线图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10160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核心规划：从数据、检索、评测到工程的全链路系统迭代升级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提升系统性能与实用性，制定分阶段改进策略。通过扩充知识数据、优化检索模型、建立量化评测体系以及完善工程化监控机制，全方位增强系统的准确性、稳定性与可维护性，为用户提供更可靠的智能检索服务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33020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数据层：丰富知识库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810000"/>
            <a:ext cx="2349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增加对PDF、附件、培养方案、校历、学工通知的解析能力，拓宽数据来源类型，全面丰富知识库内容，夯实系统信息基础，让检索拥有更完整的信息支撑。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30600" y="3175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306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57600" y="33020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检索层：提升精度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3810000"/>
            <a:ext cx="2349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用先进的中文embedding模型替代传统哈希向量，并引入reranker重排模型优化排序逻辑，从语义理解层面显著提升检索结果的精准度与匹配度。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99200" y="3175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992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26200" y="33020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评测层：量化指标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26200" y="3810000"/>
            <a:ext cx="2349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构建包含30-50个学生高频常见问题的标杆评测集，以此量化评估系统命中率、准确率等核心指标，用数据驱动系统的持续迭代与优化方向。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67800" y="3175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067800" y="3175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194800" y="33020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工程层：保障稳定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94800" y="3810000"/>
            <a:ext cx="2349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完善定时增量提取、失效日志监控、内容去重规则与数据质量看板等工程机制，形成闭环管理，全面提升系统的稳定性、健壮性与可维护性。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2705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22D3E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397500"/>
            <a:ext cx="10160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全链路的系统迭代升级将打通数据、检索、评测与工程的关键环节，不仅实现系统性能的质的飞跃，更能为用户提供更精准、稳定、易用的智能检索服务，持续释放系统的应用价值，支撑业务场景的深度拓展。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6.3 预期评测指标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473200"/>
            <a:ext cx="990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构建科学量化的多维度评测体系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05000"/>
            <a:ext cx="10033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为了科学衡量系统性能、指导迭代优化并保障服务质量，我们构建了覆盖准确性、安全性、时效性与知识广度的全方位评测指标体系，确保系统能力可量化、可验证、可提升。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79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298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333500" y="2971800"/>
            <a:ext cx="190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Top-3 命中率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14400" y="3492500"/>
            <a:ext cx="2349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衡量系统在检索前三顺位中匹配到正确答案的概率，直观反映系统的召回能力与结果排序质量。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14400" y="4318000"/>
            <a:ext cx="2298700" cy="508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90600" y="4343400"/>
            <a:ext cx="2133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0F76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核心价值：检索相关性评估基准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54400" y="279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454400" y="279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06800" y="298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4025900" y="2971800"/>
            <a:ext cx="190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引用准确率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606800" y="3492500"/>
            <a:ext cx="2349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验证答案内容与参考知识源原文的一致性与忠实度，严格杜绝答案无中生有或出现事实性偏差。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06800" y="4318000"/>
            <a:ext cx="2298700" cy="508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683000" y="4343400"/>
            <a:ext cx="2133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0F76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核心价值：答案可信度与溯源性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34100" y="279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134100" y="279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86500" y="298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6705600" y="2971800"/>
            <a:ext cx="190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无依据拒答准确率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86500" y="3492500"/>
            <a:ext cx="2349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评估系统在面对未知问题或无可靠参考依据时，主动拒绝回答的正确性比例，体现系统的严谨性与安全性。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86500" y="4318000"/>
            <a:ext cx="2298700" cy="508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362700" y="4343400"/>
            <a:ext cx="2133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0F76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核心价值：风险控制与边界管理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26500" y="2794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826500" y="279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78900" y="2984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2" name="AutoShape 32"/>
          <p:cNvSpPr/>
          <p:nvPr/>
        </p:nvSpPr>
        <p:spPr>
          <a:xfrm>
            <a:off x="9398000" y="2971800"/>
            <a:ext cx="190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平均响应时间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978900" y="3492500"/>
            <a:ext cx="2349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统计用户提交提问到系统完整返回答案的全链路耗时，保障交互的实时性与流畅的用户操作体验。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978900" y="4318000"/>
            <a:ext cx="2298700" cy="508000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055100" y="4343400"/>
            <a:ext cx="21336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0F76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核心价值：用户体验与服务性能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62000" y="5143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762000" y="5143500"/>
            <a:ext cx="50800" cy="1206500"/>
          </a:xfrm>
          <a:prstGeom prst="roundRect">
            <a:avLst>
              <a:gd name="adj" fmla="val 0"/>
            </a:avLst>
          </a:prstGeom>
          <a:solidFill>
            <a:srgbClr val="22D3E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952500" y="5270500"/>
            <a:ext cx="10223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上述核心指标外，我们还将知识规模、知识覆盖领域等作为基础支撑指标，全面反映系统的知识储备厚度。这套完整的量化评测体系，能够帮助我们客观定位系统优势与短板，为后续算法模型调优、知识资源扩充以及系统架构升级提供精准、科学的决策依据。</a:t>
            </a:r>
            <a:endParaRPr lang="en-US" sz="1100"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668000" y="6184900"/>
            <a:ext cx="1524000" cy="673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7641</Words>
  <Application>WPS 演示</Application>
  <PresentationFormat/>
  <Paragraphs>439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Arial</vt:lpstr>
      <vt:lpstr>Noto Sans SC</vt:lpstr>
      <vt:lpstr>Songti SC</vt:lpstr>
      <vt:lpstr>Segoe Print</vt:lpstr>
      <vt:lpstr>微软雅黑</vt:lpstr>
      <vt:lpstr>Arial Unicode MS</vt:lpstr>
      <vt:lpstr>Menlo</vt:lpstr>
      <vt:lpstr>Consolas</vt:lpstr>
      <vt:lpstr>Consolas</vt:lpstr>
      <vt:lpstr>Menlo</vt:lpstr>
      <vt:lpstr>Songti SC</vt:lpstr>
      <vt:lpstr>Arial Black</vt:lpstr>
      <vt:lpstr>华文琥珀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WPS_1724032723</cp:lastModifiedBy>
  <cp:revision>1</cp:revision>
  <dcterms:created xsi:type="dcterms:W3CDTF">2026-06-08T15:24:20Z</dcterms:created>
  <dcterms:modified xsi:type="dcterms:W3CDTF">2026-06-08T15:24:20Z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{"Label":"1","ContentProducer":"001191110102MACQD9K64010000","ProduceID":"7646818643460639959","ReservedCode1":"","ContentPropagator":"","PropagateID":"","ReservedCode2":""}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EDF95D3E522241718B2A0216FFCD2CAB_13</vt:lpwstr>
  </property>
</Properties>
</file>